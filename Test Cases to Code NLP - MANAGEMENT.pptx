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sldIdLst>
    <p:sldId id="256" r:id="rId5"/>
    <p:sldId id="263" r:id="rId6"/>
    <p:sldId id="271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8F"/>
    <a:srgbClr val="EE2D3D"/>
    <a:srgbClr val="003399"/>
    <a:srgbClr val="0007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8159A6-03D7-4AF4-BBBB-F6A4231C3A2E}" v="185" dt="2026-02-18T08:45:28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959"/>
  </p:normalViewPr>
  <p:slideViewPr>
    <p:cSldViewPr snapToGrid="0">
      <p:cViewPr varScale="1">
        <p:scale>
          <a:sx n="68" d="100"/>
          <a:sy n="68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B0BE28-FDF6-442F-B06B-481682FB31DF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F827735-5514-4CEB-8752-856B7653A1B4}">
      <dgm:prSet phldrT="[Text]" phldr="0"/>
      <dgm:spPr>
        <a:solidFill>
          <a:srgbClr val="EE2D3D"/>
        </a:solidFill>
      </dgm:spPr>
      <dgm:t>
        <a:bodyPr/>
        <a:lstStyle/>
        <a:p>
          <a:r>
            <a:rPr lang="en-IN" dirty="0"/>
            <a:t>Advantages</a:t>
          </a:r>
        </a:p>
      </dgm:t>
    </dgm:pt>
    <dgm:pt modelId="{15B4CD37-1D54-41B2-841D-A47C537B3318}" type="parTrans" cxnId="{0C3F35BC-0AC6-417F-90A9-D2F49BD788F0}">
      <dgm:prSet/>
      <dgm:spPr/>
      <dgm:t>
        <a:bodyPr/>
        <a:lstStyle/>
        <a:p>
          <a:endParaRPr lang="en-IN"/>
        </a:p>
      </dgm:t>
    </dgm:pt>
    <dgm:pt modelId="{4F8DFA08-25FA-4BAC-A5E2-C1DA5FD61904}" type="sibTrans" cxnId="{0C3F35BC-0AC6-417F-90A9-D2F49BD788F0}">
      <dgm:prSet/>
      <dgm:spPr/>
      <dgm:t>
        <a:bodyPr/>
        <a:lstStyle/>
        <a:p>
          <a:endParaRPr lang="en-IN"/>
        </a:p>
      </dgm:t>
    </dgm:pt>
    <dgm:pt modelId="{9D6812DA-DC62-4C98-ABAB-D14FBA4B030E}">
      <dgm:prSet phldrT="[Text]" phldr="0" custT="1"/>
      <dgm:spPr/>
      <dgm:t>
        <a:bodyPr/>
        <a:lstStyle/>
        <a:p>
          <a:r>
            <a:rPr lang="en-IN" sz="1800" kern="1200" dirty="0">
              <a:solidFill>
                <a:srgbClr val="003399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Powered by H200 GPU’s </a:t>
          </a:r>
          <a:r>
            <a:rPr lang="en-US" sz="1800" kern="12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rPr>
            <a:t>Processing complex logic at enterprise scale.</a:t>
          </a:r>
          <a:endParaRPr lang="en-IN" sz="1800" kern="1200" dirty="0">
            <a:solidFill>
              <a:srgbClr val="003399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22B86125-8EDE-4220-B017-6E1858C0AB87}" type="parTrans" cxnId="{0CE1004A-3218-4E22-9CFB-40B2DB248052}">
      <dgm:prSet/>
      <dgm:spPr/>
      <dgm:t>
        <a:bodyPr/>
        <a:lstStyle/>
        <a:p>
          <a:endParaRPr lang="en-IN"/>
        </a:p>
      </dgm:t>
    </dgm:pt>
    <dgm:pt modelId="{7943460C-1BF1-4A4F-A599-053ABE1E67D6}" type="sibTrans" cxnId="{0CE1004A-3218-4E22-9CFB-40B2DB248052}">
      <dgm:prSet/>
      <dgm:spPr/>
      <dgm:t>
        <a:bodyPr/>
        <a:lstStyle/>
        <a:p>
          <a:endParaRPr lang="en-IN"/>
        </a:p>
      </dgm:t>
    </dgm:pt>
    <dgm:pt modelId="{DAD08AE4-DA06-4079-BE02-1A64DE4B0929}">
      <dgm:prSet phldrT="[Text]" custT="1"/>
      <dgm:spPr/>
      <dgm:t>
        <a:bodyPr/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800" kern="1200" dirty="0">
              <a:solidFill>
                <a:srgbClr val="003399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80% Reduction in Scripting Time.</a:t>
          </a:r>
          <a:endParaRPr lang="en-IN" sz="1800" kern="1200" dirty="0">
            <a:solidFill>
              <a:srgbClr val="003399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8B562E12-E55C-4470-A032-6D5AB77CE23E}" type="parTrans" cxnId="{2B6D9C93-3DBB-452B-A8BE-1E5399F73949}">
      <dgm:prSet/>
      <dgm:spPr/>
      <dgm:t>
        <a:bodyPr/>
        <a:lstStyle/>
        <a:p>
          <a:endParaRPr lang="en-IN"/>
        </a:p>
      </dgm:t>
    </dgm:pt>
    <dgm:pt modelId="{D91CC5C4-B62E-400A-BA94-367562634B86}" type="sibTrans" cxnId="{2B6D9C93-3DBB-452B-A8BE-1E5399F73949}">
      <dgm:prSet/>
      <dgm:spPr/>
      <dgm:t>
        <a:bodyPr/>
        <a:lstStyle/>
        <a:p>
          <a:endParaRPr lang="en-IN"/>
        </a:p>
      </dgm:t>
    </dgm:pt>
    <dgm:pt modelId="{84EDAF1F-E682-4980-9FF2-E5FA10989C35}">
      <dgm:prSet phldrT="[Text]" custT="1"/>
      <dgm:spPr/>
      <dgm:t>
        <a:bodyPr/>
        <a:lstStyle/>
        <a:p>
          <a:pPr>
            <a:buNone/>
          </a:pPr>
          <a:r>
            <a:rPr lang="en-US" sz="1800" dirty="0">
              <a:solidFill>
                <a:srgbClr val="003399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Both Horizontally and vertically scalable based on demand.</a:t>
          </a:r>
          <a:endParaRPr lang="en-IN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DF1F4F-7D89-4322-BD00-AAF3454AE291}" type="parTrans" cxnId="{5878E917-CDB4-4B1B-9945-DADB35FC36E0}">
      <dgm:prSet/>
      <dgm:spPr/>
      <dgm:t>
        <a:bodyPr/>
        <a:lstStyle/>
        <a:p>
          <a:endParaRPr lang="en-IN"/>
        </a:p>
      </dgm:t>
    </dgm:pt>
    <dgm:pt modelId="{BE86B945-9BDD-42E1-AED1-C59D799C7663}" type="sibTrans" cxnId="{5878E917-CDB4-4B1B-9945-DADB35FC36E0}">
      <dgm:prSet/>
      <dgm:spPr/>
      <dgm:t>
        <a:bodyPr/>
        <a:lstStyle/>
        <a:p>
          <a:endParaRPr lang="en-IN"/>
        </a:p>
      </dgm:t>
    </dgm:pt>
    <dgm:pt modelId="{00F37A99-D055-485D-B574-4E5692D3B698}" type="pres">
      <dgm:prSet presAssocID="{58B0BE28-FDF6-442F-B06B-481682FB31DF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1614A929-50A0-483A-876F-B63B4C9AFB25}" type="pres">
      <dgm:prSet presAssocID="{3F827735-5514-4CEB-8752-856B7653A1B4}" presName="Parent" presStyleLbl="node1" presStyleIdx="0" presStyleCnt="2">
        <dgm:presLayoutVars>
          <dgm:chMax val="4"/>
          <dgm:chPref val="3"/>
        </dgm:presLayoutVars>
      </dgm:prSet>
      <dgm:spPr/>
    </dgm:pt>
    <dgm:pt modelId="{4A006946-EDC2-428D-990F-C6DD702BA92D}" type="pres">
      <dgm:prSet presAssocID="{9D6812DA-DC62-4C98-ABAB-D14FBA4B030E}" presName="Accent" presStyleLbl="node1" presStyleIdx="1" presStyleCnt="2"/>
      <dgm:spPr>
        <a:solidFill>
          <a:srgbClr val="004A8F"/>
        </a:solidFill>
      </dgm:spPr>
    </dgm:pt>
    <dgm:pt modelId="{AEBF414C-5D98-41A9-984D-F1115B661B8F}" type="pres">
      <dgm:prSet presAssocID="{9D6812DA-DC62-4C98-ABAB-D14FBA4B030E}" presName="Image1" presStyleLbl="fgImgPlace1" presStyleIdx="0" presStyleCnt="3" custScaleX="105053" custScaleY="105024"/>
      <dgm:spPr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  <a:ln>
          <a:solidFill>
            <a:srgbClr val="004A8F"/>
          </a:solidFill>
        </a:ln>
      </dgm:spPr>
    </dgm:pt>
    <dgm:pt modelId="{0D1E9EAF-5C09-4492-8EED-753925FC7D42}" type="pres">
      <dgm:prSet presAssocID="{9D6812DA-DC62-4C98-ABAB-D14FBA4B030E}" presName="Child1" presStyleLbl="revTx" presStyleIdx="0" presStyleCnt="3" custScaleX="156967" custLinFactNeighborX="30851" custLinFactNeighborY="-3281">
        <dgm:presLayoutVars>
          <dgm:chMax val="0"/>
          <dgm:chPref val="0"/>
          <dgm:bulletEnabled val="1"/>
        </dgm:presLayoutVars>
      </dgm:prSet>
      <dgm:spPr/>
    </dgm:pt>
    <dgm:pt modelId="{084D8FC1-9C99-4C59-BA9A-4DACE23FB6E7}" type="pres">
      <dgm:prSet presAssocID="{DAD08AE4-DA06-4079-BE02-1A64DE4B0929}" presName="Image2" presStyleCnt="0"/>
      <dgm:spPr/>
    </dgm:pt>
    <dgm:pt modelId="{DBEB2E37-7EF5-434D-B5CE-AE9B09DF2807}" type="pres">
      <dgm:prSet presAssocID="{DAD08AE4-DA06-4079-BE02-1A64DE4B0929}" presName="Image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/>
          </a:stretch>
        </a:blipFill>
        <a:ln>
          <a:solidFill>
            <a:srgbClr val="004A8F"/>
          </a:solidFill>
        </a:ln>
      </dgm:spPr>
    </dgm:pt>
    <dgm:pt modelId="{284FEB06-B591-4577-AC55-C11531133FCB}" type="pres">
      <dgm:prSet presAssocID="{DAD08AE4-DA06-4079-BE02-1A64DE4B0929}" presName="Child2" presStyleLbl="revTx" presStyleIdx="1" presStyleCnt="3" custScaleX="176588" custLinFactNeighborX="36731" custLinFactNeighborY="2130">
        <dgm:presLayoutVars>
          <dgm:chMax val="0"/>
          <dgm:chPref val="0"/>
          <dgm:bulletEnabled val="1"/>
        </dgm:presLayoutVars>
      </dgm:prSet>
      <dgm:spPr/>
    </dgm:pt>
    <dgm:pt modelId="{C63EF8B9-E731-4727-8AC0-59EBCCC29AE2}" type="pres">
      <dgm:prSet presAssocID="{84EDAF1F-E682-4980-9FF2-E5FA10989C35}" presName="Image3" presStyleCnt="0"/>
      <dgm:spPr/>
    </dgm:pt>
    <dgm:pt modelId="{E57117C3-B033-4950-91B6-80D7A09E9906}" type="pres">
      <dgm:prSet presAssocID="{84EDAF1F-E682-4980-9FF2-E5FA10989C35}" presName="Image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t="-6000" b="-6000"/>
          </a:stretch>
        </a:blipFill>
        <a:ln>
          <a:solidFill>
            <a:srgbClr val="004A8F"/>
          </a:solidFill>
        </a:ln>
      </dgm:spPr>
    </dgm:pt>
    <dgm:pt modelId="{1DEC26C6-8F49-4AC3-8053-60369324EF9E}" type="pres">
      <dgm:prSet presAssocID="{84EDAF1F-E682-4980-9FF2-E5FA10989C35}" presName="Child3" presStyleLbl="revTx" presStyleIdx="2" presStyleCnt="3" custScaleX="156967" custLinFactNeighborX="30164" custLinFactNeighborY="367">
        <dgm:presLayoutVars>
          <dgm:chMax val="0"/>
          <dgm:chPref val="0"/>
          <dgm:bulletEnabled val="1"/>
        </dgm:presLayoutVars>
      </dgm:prSet>
      <dgm:spPr/>
    </dgm:pt>
  </dgm:ptLst>
  <dgm:cxnLst>
    <dgm:cxn modelId="{19BBA808-A691-4136-BA52-7D39D9FB7E0E}" type="presOf" srcId="{3F827735-5514-4CEB-8752-856B7653A1B4}" destId="{1614A929-50A0-483A-876F-B63B4C9AFB25}" srcOrd="0" destOrd="0" presId="urn:microsoft.com/office/officeart/2011/layout/RadialPictureList"/>
    <dgm:cxn modelId="{5878E917-CDB4-4B1B-9945-DADB35FC36E0}" srcId="{3F827735-5514-4CEB-8752-856B7653A1B4}" destId="{84EDAF1F-E682-4980-9FF2-E5FA10989C35}" srcOrd="2" destOrd="0" parTransId="{CDDF1F4F-7D89-4322-BD00-AAF3454AE291}" sibTransId="{BE86B945-9BDD-42E1-AED1-C59D799C7663}"/>
    <dgm:cxn modelId="{F1FB6927-C7D5-48EF-AACF-39096942B59C}" type="presOf" srcId="{DAD08AE4-DA06-4079-BE02-1A64DE4B0929}" destId="{284FEB06-B591-4577-AC55-C11531133FCB}" srcOrd="0" destOrd="0" presId="urn:microsoft.com/office/officeart/2011/layout/RadialPictureList"/>
    <dgm:cxn modelId="{0CE1004A-3218-4E22-9CFB-40B2DB248052}" srcId="{3F827735-5514-4CEB-8752-856B7653A1B4}" destId="{9D6812DA-DC62-4C98-ABAB-D14FBA4B030E}" srcOrd="0" destOrd="0" parTransId="{22B86125-8EDE-4220-B017-6E1858C0AB87}" sibTransId="{7943460C-1BF1-4A4F-A599-053ABE1E67D6}"/>
    <dgm:cxn modelId="{23051882-FDE0-4E1A-B391-2489C88B97E4}" type="presOf" srcId="{58B0BE28-FDF6-442F-B06B-481682FB31DF}" destId="{00F37A99-D055-485D-B574-4E5692D3B698}" srcOrd="0" destOrd="0" presId="urn:microsoft.com/office/officeart/2011/layout/RadialPictureList"/>
    <dgm:cxn modelId="{2B6D9C93-3DBB-452B-A8BE-1E5399F73949}" srcId="{3F827735-5514-4CEB-8752-856B7653A1B4}" destId="{DAD08AE4-DA06-4079-BE02-1A64DE4B0929}" srcOrd="1" destOrd="0" parTransId="{8B562E12-E55C-4470-A032-6D5AB77CE23E}" sibTransId="{D91CC5C4-B62E-400A-BA94-367562634B86}"/>
    <dgm:cxn modelId="{5191A999-9AF1-4E38-8F0A-6B19B49247CF}" type="presOf" srcId="{9D6812DA-DC62-4C98-ABAB-D14FBA4B030E}" destId="{0D1E9EAF-5C09-4492-8EED-753925FC7D42}" srcOrd="0" destOrd="0" presId="urn:microsoft.com/office/officeart/2011/layout/RadialPictureList"/>
    <dgm:cxn modelId="{0C3F35BC-0AC6-417F-90A9-D2F49BD788F0}" srcId="{58B0BE28-FDF6-442F-B06B-481682FB31DF}" destId="{3F827735-5514-4CEB-8752-856B7653A1B4}" srcOrd="0" destOrd="0" parTransId="{15B4CD37-1D54-41B2-841D-A47C537B3318}" sibTransId="{4F8DFA08-25FA-4BAC-A5E2-C1DA5FD61904}"/>
    <dgm:cxn modelId="{880810F7-BC9A-42C7-8452-E3C6B3816199}" type="presOf" srcId="{84EDAF1F-E682-4980-9FF2-E5FA10989C35}" destId="{1DEC26C6-8F49-4AC3-8053-60369324EF9E}" srcOrd="0" destOrd="0" presId="urn:microsoft.com/office/officeart/2011/layout/RadialPictureList"/>
    <dgm:cxn modelId="{03B12F6D-2578-47D9-BA3A-E63381511CCF}" type="presParOf" srcId="{00F37A99-D055-485D-B574-4E5692D3B698}" destId="{1614A929-50A0-483A-876F-B63B4C9AFB25}" srcOrd="0" destOrd="0" presId="urn:microsoft.com/office/officeart/2011/layout/RadialPictureList"/>
    <dgm:cxn modelId="{4E17FE49-9B3B-488B-AB2F-A7CB9EFD4342}" type="presParOf" srcId="{00F37A99-D055-485D-B574-4E5692D3B698}" destId="{4A006946-EDC2-428D-990F-C6DD702BA92D}" srcOrd="1" destOrd="0" presId="urn:microsoft.com/office/officeart/2011/layout/RadialPictureList"/>
    <dgm:cxn modelId="{DEB7A435-D78C-4CAF-9CDE-E939D529BB14}" type="presParOf" srcId="{00F37A99-D055-485D-B574-4E5692D3B698}" destId="{AEBF414C-5D98-41A9-984D-F1115B661B8F}" srcOrd="2" destOrd="0" presId="urn:microsoft.com/office/officeart/2011/layout/RadialPictureList"/>
    <dgm:cxn modelId="{801AC116-0F62-4B19-AB59-E6076E1CDA00}" type="presParOf" srcId="{00F37A99-D055-485D-B574-4E5692D3B698}" destId="{0D1E9EAF-5C09-4492-8EED-753925FC7D42}" srcOrd="3" destOrd="0" presId="urn:microsoft.com/office/officeart/2011/layout/RadialPictureList"/>
    <dgm:cxn modelId="{6ADA79B4-7385-47BA-962E-6A0DEA52890A}" type="presParOf" srcId="{00F37A99-D055-485D-B574-4E5692D3B698}" destId="{084D8FC1-9C99-4C59-BA9A-4DACE23FB6E7}" srcOrd="4" destOrd="0" presId="urn:microsoft.com/office/officeart/2011/layout/RadialPictureList"/>
    <dgm:cxn modelId="{893154CA-D4BD-43BC-A177-6C17FA9661EF}" type="presParOf" srcId="{084D8FC1-9C99-4C59-BA9A-4DACE23FB6E7}" destId="{DBEB2E37-7EF5-434D-B5CE-AE9B09DF2807}" srcOrd="0" destOrd="0" presId="urn:microsoft.com/office/officeart/2011/layout/RadialPictureList"/>
    <dgm:cxn modelId="{4E1A98A7-CB76-40DD-9C3F-9F912FEE280D}" type="presParOf" srcId="{00F37A99-D055-485D-B574-4E5692D3B698}" destId="{284FEB06-B591-4577-AC55-C11531133FCB}" srcOrd="5" destOrd="0" presId="urn:microsoft.com/office/officeart/2011/layout/RadialPictureList"/>
    <dgm:cxn modelId="{238E275A-A73E-4789-A43C-438EC7EFDEF7}" type="presParOf" srcId="{00F37A99-D055-485D-B574-4E5692D3B698}" destId="{C63EF8B9-E731-4727-8AC0-59EBCCC29AE2}" srcOrd="6" destOrd="0" presId="urn:microsoft.com/office/officeart/2011/layout/RadialPictureList"/>
    <dgm:cxn modelId="{1EE80C04-B6D7-4862-933A-914915D0B17C}" type="presParOf" srcId="{C63EF8B9-E731-4727-8AC0-59EBCCC29AE2}" destId="{E57117C3-B033-4950-91B6-80D7A09E9906}" srcOrd="0" destOrd="0" presId="urn:microsoft.com/office/officeart/2011/layout/RadialPictureList"/>
    <dgm:cxn modelId="{916248D1-CDDB-49C8-8274-5855D2F7C988}" type="presParOf" srcId="{00F37A99-D055-485D-B574-4E5692D3B698}" destId="{1DEC26C6-8F49-4AC3-8053-60369324EF9E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4A929-50A0-483A-876F-B63B4C9AFB25}">
      <dsp:nvSpPr>
        <dsp:cNvPr id="0" name=""/>
        <dsp:cNvSpPr/>
      </dsp:nvSpPr>
      <dsp:spPr>
        <a:xfrm>
          <a:off x="2264492" y="1416001"/>
          <a:ext cx="2546642" cy="2546768"/>
        </a:xfrm>
        <a:prstGeom prst="ellipse">
          <a:avLst/>
        </a:prstGeom>
        <a:solidFill>
          <a:srgbClr val="EE2D3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Advantages</a:t>
          </a:r>
        </a:p>
      </dsp:txBody>
      <dsp:txXfrm>
        <a:off x="2637439" y="1788967"/>
        <a:ext cx="1800748" cy="1800836"/>
      </dsp:txXfrm>
    </dsp:sp>
    <dsp:sp modelId="{4A006946-EDC2-428D-990F-C6DD702BA92D}">
      <dsp:nvSpPr>
        <dsp:cNvPr id="0" name=""/>
        <dsp:cNvSpPr/>
      </dsp:nvSpPr>
      <dsp:spPr>
        <a:xfrm>
          <a:off x="951225" y="0"/>
          <a:ext cx="5133611" cy="5351478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rgbClr val="004A8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F414C-5D98-41A9-984D-F1115B661B8F}">
      <dsp:nvSpPr>
        <dsp:cNvPr id="0" name=""/>
        <dsp:cNvSpPr/>
      </dsp:nvSpPr>
      <dsp:spPr>
        <a:xfrm>
          <a:off x="4696775" y="416850"/>
          <a:ext cx="1433180" cy="1433185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  <a:ln w="12700" cap="flat" cmpd="sng" algn="ctr">
          <a:solidFill>
            <a:srgbClr val="004A8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E9EAF-5C09-4492-8EED-753925FC7D42}">
      <dsp:nvSpPr>
        <dsp:cNvPr id="0" name=""/>
        <dsp:cNvSpPr/>
      </dsp:nvSpPr>
      <dsp:spPr>
        <a:xfrm>
          <a:off x="6242200" y="429737"/>
          <a:ext cx="2866367" cy="1320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IN" sz="1800" kern="1200" dirty="0">
              <a:solidFill>
                <a:srgbClr val="003399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Powered by H200 GPU’s </a:t>
          </a:r>
          <a:r>
            <a:rPr lang="en-US" sz="1800" kern="12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rPr>
            <a:t>Processing complex logic at enterprise scale.</a:t>
          </a:r>
          <a:endParaRPr lang="en-IN" sz="1800" kern="1200" dirty="0">
            <a:solidFill>
              <a:srgbClr val="003399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6242200" y="429737"/>
        <a:ext cx="2866367" cy="1320744"/>
      </dsp:txXfrm>
    </dsp:sp>
    <dsp:sp modelId="{DBEB2E37-7EF5-434D-B5CE-AE9B09DF2807}">
      <dsp:nvSpPr>
        <dsp:cNvPr id="0" name=""/>
        <dsp:cNvSpPr/>
      </dsp:nvSpPr>
      <dsp:spPr>
        <a:xfrm>
          <a:off x="5258528" y="2003593"/>
          <a:ext cx="1364245" cy="1364626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rgbClr val="004A8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FEB06-B591-4577-AC55-C11531133FCB}">
      <dsp:nvSpPr>
        <dsp:cNvPr id="0" name=""/>
        <dsp:cNvSpPr/>
      </dsp:nvSpPr>
      <dsp:spPr>
        <a:xfrm>
          <a:off x="6705319" y="2050990"/>
          <a:ext cx="3224665" cy="1320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800" kern="1200" dirty="0">
              <a:solidFill>
                <a:srgbClr val="003399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80% Reduction in Scripting Time.</a:t>
          </a:r>
          <a:endParaRPr lang="en-IN" sz="1800" kern="1200" dirty="0">
            <a:solidFill>
              <a:srgbClr val="003399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6705319" y="2050990"/>
        <a:ext cx="3224665" cy="1320744"/>
      </dsp:txXfrm>
    </dsp:sp>
    <dsp:sp modelId="{E57117C3-B033-4950-91B6-80D7A09E9906}">
      <dsp:nvSpPr>
        <dsp:cNvPr id="0" name=""/>
        <dsp:cNvSpPr/>
      </dsp:nvSpPr>
      <dsp:spPr>
        <a:xfrm>
          <a:off x="4731243" y="3577998"/>
          <a:ext cx="1364245" cy="1364626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t="-6000" b="-6000"/>
          </a:stretch>
        </a:blipFill>
        <a:ln w="12700" cap="flat" cmpd="sng" algn="ctr">
          <a:solidFill>
            <a:srgbClr val="004A8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EC26C6-8F49-4AC3-8053-60369324EF9E}">
      <dsp:nvSpPr>
        <dsp:cNvPr id="0" name=""/>
        <dsp:cNvSpPr/>
      </dsp:nvSpPr>
      <dsp:spPr>
        <a:xfrm>
          <a:off x="6229654" y="3610673"/>
          <a:ext cx="2866367" cy="1320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800" kern="1200" dirty="0">
              <a:solidFill>
                <a:srgbClr val="003399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Both Horizontally and vertically scalable based on demand.</a:t>
          </a:r>
          <a:endParaRPr lang="en-IN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229654" y="3610673"/>
        <a:ext cx="2866367" cy="13207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766D45-A4B5-478D-9FEF-963CC7C543B5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713B37-5213-4260-B21A-15F8177A53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045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FAF86-76F6-B11B-A1D6-CDBDA392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red flag&#10;&#10;Description automatically generated">
            <a:extLst>
              <a:ext uri="{FF2B5EF4-FFF2-40B4-BE49-F238E27FC236}">
                <a16:creationId xmlns:a16="http://schemas.microsoft.com/office/drawing/2014/main" id="{BF7584B3-6434-CC04-4E5C-3FFF0E24CA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6484D9-ABE6-0556-F813-74F4A38E8367}"/>
              </a:ext>
            </a:extLst>
          </p:cNvPr>
          <p:cNvGrpSpPr/>
          <p:nvPr userDrawn="1"/>
        </p:nvGrpSpPr>
        <p:grpSpPr>
          <a:xfrm>
            <a:off x="8826003" y="277295"/>
            <a:ext cx="3142051" cy="867809"/>
            <a:chOff x="10007032" y="208516"/>
            <a:chExt cx="2151522" cy="594233"/>
          </a:xfrm>
        </p:grpSpPr>
        <p:pic>
          <p:nvPicPr>
            <p:cNvPr id="8" name="Picture 7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261F815D-6A98-4C08-7E2C-FDFCB007B7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7032" y="246582"/>
              <a:ext cx="1048875" cy="518107"/>
            </a:xfrm>
            <a:prstGeom prst="rect">
              <a:avLst/>
            </a:prstGeom>
          </p:spPr>
        </p:pic>
        <p:pic>
          <p:nvPicPr>
            <p:cNvPr id="9" name="Picture 8" descr="A red horse with black lines&#10;&#10;Description automatically generated">
              <a:extLst>
                <a:ext uri="{FF2B5EF4-FFF2-40B4-BE49-F238E27FC236}">
                  <a16:creationId xmlns:a16="http://schemas.microsoft.com/office/drawing/2014/main" id="{EF881316-72A1-E54C-2A1A-CDCC9A2CF6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55567" y="208516"/>
              <a:ext cx="1202987" cy="5942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9659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B0B5-E694-34CD-F449-AF5B5039B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8"/>
            <a:ext cx="10515600" cy="315910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C6130-CCFA-6B81-4B18-700E9B381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4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0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8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750C9-5045-11A1-7D17-B5911C12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828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5390-F51E-0403-F1EF-FC5DC6A9B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800" b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B3459-0BBC-4F81-93B4-108D9AD21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AF805-56CB-44AF-458F-E5038969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65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2102A-37F9-7105-2415-54DEC7F9C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76350"/>
            <a:ext cx="5181600" cy="490061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4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0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8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74805-2EE4-32FA-A030-5BB472B8D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76350"/>
            <a:ext cx="5181600" cy="4900613"/>
          </a:xfrm>
          <a:prstGeom prst="rect">
            <a:avLst/>
          </a:prstGeom>
        </p:spPr>
        <p:txBody>
          <a:bodyPr/>
          <a:lstStyle>
            <a:lvl1pPr>
              <a:defRPr lang="en-US" sz="24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20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en-US" sz="18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lang="en-US"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lang="en-IN"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lnSpc>
                <a:spcPct val="150000"/>
              </a:lnSpc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lnSpc>
                <a:spcPct val="150000"/>
              </a:lnSpc>
              <a:spcBef>
                <a:spcPts val="0"/>
              </a:spcBef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1B505-53A6-4CEF-28E5-3379DFF2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D2A63B-CAD0-D5D6-CCF0-E752A420C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8"/>
            <a:ext cx="10515600" cy="315910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627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A84C5-4028-4D3E-E86F-3679B1F7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6C9B06-04DE-E310-4D64-E3EEBAEC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8"/>
            <a:ext cx="10515600" cy="315910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083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9D2CF-9A25-9BC8-A89F-CA8216BC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348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95C83-407D-DE4C-64C7-6AF206B00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1150" y="64897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635EA-281D-47C8-A0EC-B8A06226CB83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E7902FD-826A-1DCE-56EB-9776F229C4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032" y="246582"/>
            <a:ext cx="1048875" cy="518107"/>
          </a:xfrm>
          <a:prstGeom prst="rect">
            <a:avLst/>
          </a:prstGeom>
        </p:spPr>
      </p:pic>
      <p:pic>
        <p:nvPicPr>
          <p:cNvPr id="8" name="Picture 7" descr="A red horse with black lines&#10;&#10;Description automatically generated">
            <a:extLst>
              <a:ext uri="{FF2B5EF4-FFF2-40B4-BE49-F238E27FC236}">
                <a16:creationId xmlns:a16="http://schemas.microsoft.com/office/drawing/2014/main" id="{9EF59D0F-8216-3C72-7864-7E8F9CC00C0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887" y="247675"/>
            <a:ext cx="1202987" cy="594233"/>
          </a:xfrm>
          <a:prstGeom prst="rect">
            <a:avLst/>
          </a:prstGeom>
        </p:spPr>
      </p:pic>
      <p:pic>
        <p:nvPicPr>
          <p:cNvPr id="9" name="Picture 8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008DB5EA-844F-D3ED-93E7-0C65FA6A523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26" y="194839"/>
            <a:ext cx="1268181" cy="62643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3331BB-5D16-AEAC-F610-265CF143F87A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6515100"/>
            <a:ext cx="12204700" cy="0"/>
          </a:xfrm>
          <a:prstGeom prst="line">
            <a:avLst/>
          </a:prstGeom>
          <a:ln w="19050">
            <a:solidFill>
              <a:srgbClr val="00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83C6FE1-4D8B-43CC-686D-FD9014787B4D}"/>
              </a:ext>
            </a:extLst>
          </p:cNvPr>
          <p:cNvSpPr txBox="1"/>
          <p:nvPr userDrawn="1"/>
        </p:nvSpPr>
        <p:spPr>
          <a:xfrm>
            <a:off x="33907" y="6478495"/>
            <a:ext cx="1655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A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Classification:</a:t>
            </a:r>
            <a:endParaRPr lang="en-IN" dirty="0">
              <a:solidFill>
                <a:srgbClr val="004A8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7F9F7B9-C8F8-C478-4DD2-FD27612EDE20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1468842" y="707335"/>
            <a:ext cx="9277127" cy="4439"/>
          </a:xfrm>
          <a:prstGeom prst="line">
            <a:avLst/>
          </a:prstGeom>
          <a:solidFill>
            <a:schemeClr val="bg1"/>
          </a:solidFill>
          <a:ln w="38100" cap="flat" cmpd="sng" algn="ctr">
            <a:gradFill flip="none" rotWithShape="1">
              <a:gsLst>
                <a:gs pos="1000">
                  <a:srgbClr val="FFCDCD"/>
                </a:gs>
                <a:gs pos="50000">
                  <a:srgbClr val="000099"/>
                </a:gs>
                <a:gs pos="49000">
                  <a:srgbClr val="FF00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60916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4EFD3A-1E28-0EB6-2907-46C379A2F724}"/>
              </a:ext>
            </a:extLst>
          </p:cNvPr>
          <p:cNvSpPr txBox="1"/>
          <p:nvPr/>
        </p:nvSpPr>
        <p:spPr>
          <a:xfrm>
            <a:off x="101161" y="2250198"/>
            <a:ext cx="94058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Accelerating QA Automation with Generative AI</a:t>
            </a:r>
            <a:endParaRPr lang="en-IN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C68EA-D8F7-1512-61BE-DB355E10AF61}"/>
              </a:ext>
            </a:extLst>
          </p:cNvPr>
          <p:cNvSpPr txBox="1"/>
          <p:nvPr/>
        </p:nvSpPr>
        <p:spPr>
          <a:xfrm>
            <a:off x="101160" y="2834973"/>
            <a:ext cx="10537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(Transforming Natural Language Test Cases into Executable Code with Qwen 2.5 72B model)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AF813-8090-8954-6198-38883DB21D53}"/>
              </a:ext>
            </a:extLst>
          </p:cNvPr>
          <p:cNvSpPr txBox="1"/>
          <p:nvPr/>
        </p:nvSpPr>
        <p:spPr>
          <a:xfrm>
            <a:off x="7910063" y="6273225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Audience: </a:t>
            </a:r>
            <a:r>
              <a:rPr lang="en-US" sz="16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Engineering, D&amp;AI Teams</a:t>
            </a:r>
          </a:p>
          <a:p>
            <a:r>
              <a:rPr lang="en-US" sz="1600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Presenter</a:t>
            </a:r>
            <a:r>
              <a:rPr lang="en-US" sz="16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Shalem Raju</a:t>
            </a:r>
            <a:endParaRPr lang="en-IN" sz="16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6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25CBE-3FA2-5619-05B4-60521D4B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Summary</a:t>
            </a:r>
            <a:endParaRPr lang="en-US" dirty="0">
              <a:solidFill>
                <a:srgbClr val="004A8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3FE00-3DCD-806C-E0D1-82AB0B639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/>
              <a:t>Bridging the gap between Requirements and Code:</a:t>
            </a:r>
          </a:p>
          <a:p>
            <a:r>
              <a:rPr lang="en-US" sz="1800" b="1" dirty="0"/>
              <a:t>The Initiative:</a:t>
            </a:r>
            <a:r>
              <a:rPr lang="en-US" sz="1800" dirty="0"/>
              <a:t> We have successfully fine-tuned a state-of-the-art Large Language Model (Qwen 2.5 72B) to automate the conversion of English test cases into executable code.</a:t>
            </a:r>
          </a:p>
          <a:p>
            <a:r>
              <a:rPr lang="en-US" sz="1800" b="1" dirty="0"/>
              <a:t>The Technology:</a:t>
            </a:r>
            <a:r>
              <a:rPr lang="en-US" sz="1800" dirty="0"/>
              <a:t> Leveraging high-performance NVIDIA H200 infrastructure to process complex logic and large-scale data.</a:t>
            </a:r>
          </a:p>
          <a:p>
            <a:r>
              <a:rPr lang="en-US" sz="1800" b="1" dirty="0"/>
              <a:t>Business Value:</a:t>
            </a:r>
            <a:r>
              <a:rPr lang="en-US" sz="1800" dirty="0"/>
              <a:t> This initiative targets a drastic reduction in manual coding time for QA engineers, ensuring faster time-to-market and higher consistency in test coverage.</a:t>
            </a:r>
            <a:endParaRPr lang="de-DE" sz="1800" b="1" dirty="0">
              <a:solidFill>
                <a:srgbClr val="004A8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8EAF7-4398-2E05-525B-CB41A02A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2</a:t>
            </a:fld>
            <a:endParaRPr lang="en-IN"/>
          </a:p>
        </p:txBody>
      </p:sp>
      <p:sp>
        <p:nvSpPr>
          <p:cNvPr id="5" name="AutoShape 2" descr="Document Icon PNG Images, Vectors Free Download - Pngtree">
            <a:extLst>
              <a:ext uri="{FF2B5EF4-FFF2-40B4-BE49-F238E27FC236}">
                <a16:creationId xmlns:a16="http://schemas.microsoft.com/office/drawing/2014/main" id="{1F48D660-519D-6808-2215-7C83FBB711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5A7B650-CA93-AE48-9063-A0C7F578BC30}"/>
              </a:ext>
            </a:extLst>
          </p:cNvPr>
          <p:cNvGrpSpPr/>
          <p:nvPr/>
        </p:nvGrpSpPr>
        <p:grpSpPr>
          <a:xfrm>
            <a:off x="1149904" y="4459294"/>
            <a:ext cx="10794446" cy="1889118"/>
            <a:chOff x="1298594" y="4256922"/>
            <a:chExt cx="10794446" cy="188911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DA969CB-9B1F-142F-39FE-2562DA302313}"/>
                </a:ext>
              </a:extLst>
            </p:cNvPr>
            <p:cNvGrpSpPr/>
            <p:nvPr/>
          </p:nvGrpSpPr>
          <p:grpSpPr>
            <a:xfrm>
              <a:off x="1345926" y="4256922"/>
              <a:ext cx="9398469" cy="1766008"/>
              <a:chOff x="902857" y="4582404"/>
              <a:chExt cx="9398469" cy="1766008"/>
            </a:xfrm>
          </p:grpSpPr>
          <p:pic>
            <p:nvPicPr>
              <p:cNvPr id="26" name="Picture 8" descr="Document Generic Blue icon | Freepik">
                <a:extLst>
                  <a:ext uri="{FF2B5EF4-FFF2-40B4-BE49-F238E27FC236}">
                    <a16:creationId xmlns:a16="http://schemas.microsoft.com/office/drawing/2014/main" id="{CF3BEB84-8797-1289-E909-F3CA722FE0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02857" y="4711973"/>
                <a:ext cx="1571625" cy="1409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10" descr="Brain icon isolated on white background ...">
                <a:extLst>
                  <a:ext uri="{FF2B5EF4-FFF2-40B4-BE49-F238E27FC236}">
                    <a16:creationId xmlns:a16="http://schemas.microsoft.com/office/drawing/2014/main" id="{ED73700F-48B0-D8CD-188A-2BA7AA12FA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12808" y="4582404"/>
                <a:ext cx="1766008" cy="17660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" name="Arrow: Right 27">
                <a:extLst>
                  <a:ext uri="{FF2B5EF4-FFF2-40B4-BE49-F238E27FC236}">
                    <a16:creationId xmlns:a16="http://schemas.microsoft.com/office/drawing/2014/main" id="{2EAECFA1-925E-DB18-19BF-531729985F61}"/>
                  </a:ext>
                </a:extLst>
              </p:cNvPr>
              <p:cNvSpPr/>
              <p:nvPr/>
            </p:nvSpPr>
            <p:spPr>
              <a:xfrm>
                <a:off x="2944709" y="5207951"/>
                <a:ext cx="1571625" cy="590843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 err="1">
                  <a:solidFill>
                    <a:srgbClr val="003399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9" name="Picture 14" descr="Minimalist computer terminal line icon ...">
                <a:extLst>
                  <a:ext uri="{FF2B5EF4-FFF2-40B4-BE49-F238E27FC236}">
                    <a16:creationId xmlns:a16="http://schemas.microsoft.com/office/drawing/2014/main" id="{AA69B0F4-B716-B093-C695-D0BC33D135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3024" y="4821885"/>
                <a:ext cx="1448302" cy="14483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0" name="Arrow: Right 29">
                <a:extLst>
                  <a:ext uri="{FF2B5EF4-FFF2-40B4-BE49-F238E27FC236}">
                    <a16:creationId xmlns:a16="http://schemas.microsoft.com/office/drawing/2014/main" id="{03B069D7-4002-6FE3-A9A0-C5193BABA021}"/>
                  </a:ext>
                </a:extLst>
              </p:cNvPr>
              <p:cNvSpPr/>
              <p:nvPr/>
            </p:nvSpPr>
            <p:spPr>
              <a:xfrm>
                <a:off x="6875290" y="5225068"/>
                <a:ext cx="1571625" cy="590843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1382297-9268-399D-79DD-F66572DF29F0}"/>
                </a:ext>
              </a:extLst>
            </p:cNvPr>
            <p:cNvSpPr txBox="1"/>
            <p:nvPr/>
          </p:nvSpPr>
          <p:spPr>
            <a:xfrm>
              <a:off x="1298594" y="5895281"/>
              <a:ext cx="2658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339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English Test Cases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02A83DF-414A-8118-EF2F-405170AB0F33}"/>
                </a:ext>
              </a:extLst>
            </p:cNvPr>
            <p:cNvSpPr txBox="1"/>
            <p:nvPr/>
          </p:nvSpPr>
          <p:spPr>
            <a:xfrm>
              <a:off x="5255877" y="5845699"/>
              <a:ext cx="2658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339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Quen 72B parameter Model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E9F9A8D-BDE2-7DD9-8113-98089107B407}"/>
                </a:ext>
              </a:extLst>
            </p:cNvPr>
            <p:cNvSpPr txBox="1"/>
            <p:nvPr/>
          </p:nvSpPr>
          <p:spPr>
            <a:xfrm>
              <a:off x="9434246" y="5899819"/>
              <a:ext cx="2658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00339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Automation Desk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9954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AC3E4-A670-B254-F80E-243FFE67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4194FCB-0B14-E310-B0F5-5B4CFEFD4C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6234774"/>
              </p:ext>
            </p:extLst>
          </p:nvPr>
        </p:nvGraphicFramePr>
        <p:xfrm>
          <a:off x="-827317" y="1026942"/>
          <a:ext cx="10210467" cy="535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274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44A03-5E38-A079-BC61-2696C8E69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Business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54B55-74E3-6EBA-775C-31303A43C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/>
              <a:t>Manual translation of requirements is a bottleneck.</a:t>
            </a:r>
          </a:p>
          <a:p>
            <a:r>
              <a:rPr lang="en-IN" sz="1800" b="1" dirty="0"/>
              <a:t>Resource Intensive:</a:t>
            </a:r>
            <a:r>
              <a:rPr lang="en-IN" sz="1800" dirty="0"/>
              <a:t> converting </a:t>
            </a:r>
            <a:r>
              <a:rPr lang="en-US" sz="1800" dirty="0"/>
              <a:t>written test plans (English) into code requires significant </a:t>
            </a:r>
            <a:r>
              <a:rPr lang="en-IN" sz="1800" dirty="0"/>
              <a:t>engineering hours.</a:t>
            </a:r>
          </a:p>
          <a:p>
            <a:r>
              <a:rPr lang="en-US" sz="1800" b="1" dirty="0"/>
              <a:t>Human Error:</a:t>
            </a:r>
            <a:r>
              <a:rPr lang="en-US" sz="1800" dirty="0"/>
              <a:t> Manual coding of test scripts introduces the risk of misinterpretation and syntax errors.</a:t>
            </a:r>
          </a:p>
          <a:p>
            <a:r>
              <a:rPr lang="en-US" sz="1800" b="1" dirty="0"/>
              <a:t>Scalability Limits:</a:t>
            </a:r>
            <a:r>
              <a:rPr lang="en-US" sz="1800" dirty="0"/>
              <a:t> As product features grow, the testing backlog grows faster than the engineering team can scale.</a:t>
            </a: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endParaRPr lang="en-IN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91AD7-F007-EA9B-6FEE-F02BF5673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08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E4B22-36DF-947E-64B0-C6837F47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AI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06377-7AF1-B829-F0A9-69BFC54D4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1" dirty="0"/>
              <a:t>A Custom-Trained Enterprise Model.</a:t>
            </a:r>
          </a:p>
          <a:p>
            <a:r>
              <a:rPr lang="en-US" sz="1800" b="1" dirty="0"/>
              <a:t>Model Architecture:</a:t>
            </a:r>
            <a:r>
              <a:rPr lang="en-US" sz="1800" dirty="0"/>
              <a:t> We utilized </a:t>
            </a:r>
            <a:r>
              <a:rPr lang="en-US" sz="1800" b="1" dirty="0"/>
              <a:t>Qwen 2.5 72B</a:t>
            </a:r>
            <a:r>
              <a:rPr lang="en-US" sz="1800" dirty="0"/>
              <a:t>, a leading open-weight model known for superior coding and reasoning capabilities, rivaling proprietary models like GPT-4.</a:t>
            </a:r>
          </a:p>
          <a:p>
            <a:r>
              <a:rPr lang="en-US" sz="1800" b="1" dirty="0"/>
              <a:t>Specialized Fine-Tuning:</a:t>
            </a:r>
            <a:r>
              <a:rPr lang="en-US" sz="1800" dirty="0"/>
              <a:t> Unlike generic "chatbots," this model was trained specifically on </a:t>
            </a:r>
            <a:r>
              <a:rPr lang="en-US" sz="1800" b="1" dirty="0"/>
              <a:t>English-to-Code</a:t>
            </a:r>
            <a:r>
              <a:rPr lang="en-US" sz="1800" dirty="0"/>
              <a:t> pairs, creating a specialist tool for our specific domain.</a:t>
            </a:r>
          </a:p>
          <a:p>
            <a:r>
              <a:rPr lang="en-US" sz="1800" b="1" dirty="0"/>
              <a:t>Infrastructure:</a:t>
            </a:r>
            <a:r>
              <a:rPr lang="en-US" sz="1800" dirty="0"/>
              <a:t> Deployed on </a:t>
            </a:r>
            <a:r>
              <a:rPr lang="en-US" sz="1800" b="1" dirty="0"/>
              <a:t>NVIDIA H200 GPUs</a:t>
            </a:r>
            <a:r>
              <a:rPr lang="en-US" sz="1800" dirty="0"/>
              <a:t>, ensuring rapid training and near-instant inference speeds for high-volume workloads.</a:t>
            </a:r>
            <a:endParaRPr lang="en-IN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51241-3A00-542F-93CC-055C6852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534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3F26D-FEDF-C251-4AAB-D433C02EC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Strategic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4F23C-CBBF-58CB-2587-0B1F07DF2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1" dirty="0"/>
              <a:t>Why this approach wins.</a:t>
            </a:r>
          </a:p>
          <a:p>
            <a:r>
              <a:rPr lang="en-US" sz="1800" b="1" dirty="0"/>
              <a:t>Data Privacy &amp; Security:</a:t>
            </a:r>
            <a:r>
              <a:rPr lang="en-US" sz="1800" dirty="0"/>
              <a:t> By fine-tuning our own model rather than sending data to a public API, we maintain 100% control over our proprietary test data and code.</a:t>
            </a:r>
          </a:p>
          <a:p>
            <a:r>
              <a:rPr lang="en-US" sz="1800" b="1" dirty="0"/>
              <a:t>Domain Specificity:</a:t>
            </a:r>
            <a:r>
              <a:rPr lang="en-US" sz="1800" dirty="0"/>
              <a:t> The model learns </a:t>
            </a:r>
            <a:r>
              <a:rPr lang="en-US" sz="1800" i="1" dirty="0"/>
              <a:t>our</a:t>
            </a:r>
            <a:r>
              <a:rPr lang="en-US" sz="1800" dirty="0"/>
              <a:t> coding standards and </a:t>
            </a:r>
            <a:r>
              <a:rPr lang="en-US" sz="1800" i="1" dirty="0"/>
              <a:t>our</a:t>
            </a:r>
            <a:r>
              <a:rPr lang="en-US" sz="1800" dirty="0"/>
              <a:t> specific testing frameworks, delivering code that is ready to run without heavy editing.</a:t>
            </a:r>
          </a:p>
          <a:p>
            <a:r>
              <a:rPr lang="en-US" sz="1800" b="1" dirty="0"/>
              <a:t>Operational Efficiency:</a:t>
            </a:r>
            <a:r>
              <a:rPr lang="en-US" sz="1800" dirty="0"/>
              <a:t> Engineers shift from writing boilerplate code to reviewing and approving AI-generated scripts, multiplying their productivity.</a:t>
            </a:r>
            <a:endParaRPr lang="en-IN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FC84E-7D06-BF4F-7806-37E47C8E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896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8966-BB93-FE9F-3394-80EE8823C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Impact &amp; ROI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B913B-7C29-AEA2-BF10-EA00ABDBA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1" dirty="0"/>
              <a:t>Measuring Success.</a:t>
            </a:r>
          </a:p>
          <a:p>
            <a:r>
              <a:rPr lang="en-US" sz="1800" b="1" dirty="0"/>
              <a:t>40-60% Reduction</a:t>
            </a:r>
            <a:r>
              <a:rPr lang="en-US" sz="1800" dirty="0"/>
              <a:t> in time required to generate initial test scripts.</a:t>
            </a:r>
          </a:p>
          <a:p>
            <a:r>
              <a:rPr lang="en-US" sz="1800" b="1" dirty="0"/>
              <a:t>Standardization</a:t>
            </a:r>
            <a:r>
              <a:rPr lang="en-US" sz="1800" dirty="0"/>
              <a:t> of code output across distributed teams.</a:t>
            </a:r>
          </a:p>
          <a:p>
            <a:r>
              <a:rPr lang="en-US" sz="1800" b="1" dirty="0"/>
              <a:t>Accelerated CI/CD Pipelines</a:t>
            </a:r>
            <a:r>
              <a:rPr lang="en-US" sz="1800" dirty="0"/>
              <a:t> due to faster test creation cycles.</a:t>
            </a:r>
            <a:endParaRPr lang="en-IN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F2643-852C-BC83-4122-FC97003F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524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1A427-02A5-80B6-235F-9FFCAB4FD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63709"/>
            <a:ext cx="5181600" cy="490061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IN" sz="1800" b="1" dirty="0"/>
              <a:t>Scaling the Capability.</a:t>
            </a:r>
          </a:p>
          <a:p>
            <a:pPr>
              <a:spcAft>
                <a:spcPts val="600"/>
              </a:spcAft>
            </a:pPr>
            <a:r>
              <a:rPr lang="en-US" sz="1800" b="1" dirty="0"/>
              <a:t>Phase 1 (Completed):</a:t>
            </a:r>
            <a:r>
              <a:rPr lang="en-US" sz="1800" dirty="0"/>
              <a:t> Model fine-tuning and validation on H200 hardware.</a:t>
            </a:r>
          </a:p>
          <a:p>
            <a:pPr>
              <a:spcAft>
                <a:spcPts val="600"/>
              </a:spcAft>
            </a:pPr>
            <a:r>
              <a:rPr lang="en-US" sz="1800" b="1" dirty="0"/>
              <a:t>Phase 2 (Current):</a:t>
            </a:r>
            <a:r>
              <a:rPr lang="en-US" sz="1800" dirty="0"/>
              <a:t> Integration into the developer IDE/Workflow and documentation.</a:t>
            </a:r>
            <a:endParaRPr lang="en-IN" sz="1800" b="1" dirty="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BFE40B31-68D1-1DCC-2199-B4EF560B0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8163" y="1643788"/>
            <a:ext cx="4654473" cy="247850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59646-5EC0-FD9F-3A36-41E2687C8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48970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635EA-281D-47C8-A0EC-B8A06226CB83}" type="slidenum">
              <a:rPr lang="en-IN" smtClean="0"/>
              <a:pPr>
                <a:spcAft>
                  <a:spcPts val="600"/>
                </a:spcAft>
              </a:pPr>
              <a:t>8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D8C155-DE26-995C-F301-66093AE93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8"/>
            <a:ext cx="10515600" cy="315910"/>
          </a:xfrm>
        </p:spPr>
        <p:txBody>
          <a:bodyPr>
            <a:noAutofit/>
          </a:bodyPr>
          <a:lstStyle/>
          <a:p>
            <a:r>
              <a:rPr lang="en-IN" dirty="0"/>
              <a:t>Future Roadmap</a:t>
            </a:r>
          </a:p>
        </p:txBody>
      </p:sp>
    </p:spTree>
    <p:extLst>
      <p:ext uri="{BB962C8B-B14F-4D97-AF65-F5344CB8AC3E}">
        <p14:creationId xmlns:p14="http://schemas.microsoft.com/office/powerpoint/2010/main" val="369657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BD1A665-2335-9A88-927D-A22F581BF57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199" y="2347508"/>
            <a:ext cx="5638641" cy="275829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A4639-8CA8-4E25-1A3B-8F2F167E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48970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635EA-281D-47C8-A0EC-B8A06226CB83}" type="slidenum">
              <a:rPr lang="en-IN" smtClean="0"/>
              <a:pPr>
                <a:spcAft>
                  <a:spcPts val="600"/>
                </a:spcAft>
              </a:pPr>
              <a:t>9</a:t>
            </a:fld>
            <a:endParaRPr lang="en-IN"/>
          </a:p>
        </p:txBody>
      </p:sp>
      <p:sp>
        <p:nvSpPr>
          <p:cNvPr id="4105" name="Title 4">
            <a:extLst>
              <a:ext uri="{FF2B5EF4-FFF2-40B4-BE49-F238E27FC236}">
                <a16:creationId xmlns:a16="http://schemas.microsoft.com/office/drawing/2014/main" id="{CD68A167-6F85-96B1-9439-939B7990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8"/>
            <a:ext cx="10515600" cy="315910"/>
          </a:xfrm>
        </p:spPr>
        <p:txBody>
          <a:bodyPr/>
          <a:lstStyle/>
          <a:p>
            <a:r>
              <a:rPr lang="en-US" dirty="0"/>
              <a:t>Progress Snapshots.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C59B37D-FE85-37AD-6CF8-B3B72026F17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347508"/>
            <a:ext cx="5181600" cy="275829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63920488"/>
      </p:ext>
    </p:extLst>
  </p:cSld>
  <p:clrMapOvr>
    <a:masterClrMapping/>
  </p:clrMapOvr>
</p:sld>
</file>

<file path=ppt/theme/theme1.xml><?xml version="1.0" encoding="utf-8"?>
<a:theme xmlns:a="http://schemas.openxmlformats.org/drawingml/2006/main" name="TVSM Official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003399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rgbClr val="003399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3056EE5F-EDBA-4ACB-909A-6A81756CEF8D}" vid="{008C2BD3-AFBB-46F9-A7BE-41B781A5DB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5F2D4B903612439814B256AFA3EFA0" ma:contentTypeVersion="4" ma:contentTypeDescription="Create a new document." ma:contentTypeScope="" ma:versionID="e2c738bdecf0b8a3e3729059e1aeb75c">
  <xsd:schema xmlns:xsd="http://www.w3.org/2001/XMLSchema" xmlns:xs="http://www.w3.org/2001/XMLSchema" xmlns:p="http://schemas.microsoft.com/office/2006/metadata/properties" xmlns:ns2="7461fae7-4878-4724-ab40-c84b3ed02618" targetNamespace="http://schemas.microsoft.com/office/2006/metadata/properties" ma:root="true" ma:fieldsID="24d90fec009b6e67d11c377c0361ca9d" ns2:_="">
    <xsd:import namespace="7461fae7-4878-4724-ab40-c84b3ed026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61fae7-4878-4724-ab40-c84b3ed026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5E009AE-95A3-4949-940C-817E6B6BD5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61fae7-4878-4724-ab40-c84b3ed026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3F0481-8714-4606-BA08-837569C592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C2627C-B51D-4560-BE2F-95A84B33F0AE}">
  <ds:schemaRefs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2006/metadata/properties"/>
    <ds:schemaRef ds:uri="7461fae7-4878-4724-ab40-c84b3ed02618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TVSM Default PPT Theme</Template>
  <TotalTime>4133</TotalTime>
  <Words>466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TVSM Official Template</vt:lpstr>
      <vt:lpstr>PowerPoint Presentation</vt:lpstr>
      <vt:lpstr>Executive Summary</vt:lpstr>
      <vt:lpstr>PowerPoint Presentation</vt:lpstr>
      <vt:lpstr>The Business Challenge</vt:lpstr>
      <vt:lpstr>The AI Solution</vt:lpstr>
      <vt:lpstr>Strategic Advantages</vt:lpstr>
      <vt:lpstr>Impact &amp; ROI</vt:lpstr>
      <vt:lpstr>Future Roadmap</vt:lpstr>
      <vt:lpstr>Progress Snapshots.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Shalem Raju (R&amp;D-Veh Engg/Hosur/TVSMotor)</dc:creator>
  <cp:lastModifiedBy>Shalem Raju (R&amp;D-Veh Engg/Hosur/TVSMotor)</cp:lastModifiedBy>
  <cp:revision>2</cp:revision>
  <dcterms:created xsi:type="dcterms:W3CDTF">2026-01-27T05:04:57Z</dcterms:created>
  <dcterms:modified xsi:type="dcterms:W3CDTF">2026-02-27T05:22:26Z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847cdb-dc7c-42a2-b569-f8e7db656104_Enabled">
    <vt:lpwstr>true</vt:lpwstr>
  </property>
  <property fmtid="{D5CDD505-2E9C-101B-9397-08002B2CF9AE}" pid="3" name="MSIP_Label_b1847cdb-dc7c-42a2-b569-f8e7db656104_SetDate">
    <vt:lpwstr>2023-11-17T07:58:56Z</vt:lpwstr>
  </property>
  <property fmtid="{D5CDD505-2E9C-101B-9397-08002B2CF9AE}" pid="4" name="MSIP_Label_b1847cdb-dc7c-42a2-b569-f8e7db656104_Method">
    <vt:lpwstr>Privileged</vt:lpwstr>
  </property>
  <property fmtid="{D5CDD505-2E9C-101B-9397-08002B2CF9AE}" pid="5" name="MSIP_Label_b1847cdb-dc7c-42a2-b569-f8e7db656104_Name">
    <vt:lpwstr>External</vt:lpwstr>
  </property>
  <property fmtid="{D5CDD505-2E9C-101B-9397-08002B2CF9AE}" pid="6" name="MSIP_Label_b1847cdb-dc7c-42a2-b569-f8e7db656104_SiteId">
    <vt:lpwstr>d30feff3-78f9-476a-81e4-c71b80743988</vt:lpwstr>
  </property>
  <property fmtid="{D5CDD505-2E9C-101B-9397-08002B2CF9AE}" pid="7" name="MSIP_Label_b1847cdb-dc7c-42a2-b569-f8e7db656104_ActionId">
    <vt:lpwstr>aa87e4bd-799c-4056-ac03-b9c81197c4a1</vt:lpwstr>
  </property>
  <property fmtid="{D5CDD505-2E9C-101B-9397-08002B2CF9AE}" pid="8" name="MSIP_Label_b1847cdb-dc7c-42a2-b569-f8e7db656104_ContentBits">
    <vt:lpwstr>0</vt:lpwstr>
  </property>
  <property fmtid="{D5CDD505-2E9C-101B-9397-08002B2CF9AE}" pid="9" name="ContentTypeId">
    <vt:lpwstr>0x010100A25F2D4B903612439814B256AFA3EFA0</vt:lpwstr>
  </property>
</Properties>
</file>